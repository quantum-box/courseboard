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CourseBoard はゴルフ場の運営をひとつにまとめたシステムです。本日は現場の手間に直結する3つの領域をご紹介します。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全体像。まず何ができるシステムなのかを1枚で。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アジェンダ。3つが独立ではなく1本の線でつながる点を最後にもう一度出します。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1組4人の名前を打ち直す作業が、朝の受付でいちばん時間のかかるところです。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読み取り→確認→登録の3手。用紙そのものは保存しない設計です。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紙の受付票をそのまま読み込ませたところ。用紙は保存されません。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導入時の設定画面。用紙が変わってもここだけ直せば読み取りに反映されます。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ビジターが台帳に載らないままになる、というのが最も多い穴です。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台帳は入口を広く、判断は人に残す。ここが名寄せ事故を防ぐ考え方です。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検索しなくても新しく登録した順に出るので、朝の受付でそのまま使えます。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グレードは来場回数・客単価・累計金額のしきい値から自動で付きます。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「会員かどうか」と「よく来る人かどうか」は別物として持つ、という設計です。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キャディは人の話なので、根拠が見えることを重視しています。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二重入力を無くすのがこの並びの狙いです。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朝いちばんに開く画面。未配置の解消がいちばん上に来ます。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決めるのは人。自動化するのは候補を出すところまで、という設計です。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売る前に上限が分かります。予備に残す組数はゴルフ場側で決められます。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労基法35条の週1日の休日を守れているかを、月の頭で確認できます。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別業務を入れると需給の数え方も変わります（潰れた半日ぶんを引く）。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別の表を作り直さずに、配置と出勤からそのまま給与まで行きます。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本日の3領域の外側ですが、これらがつながる先としてご参考まで。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最後にもう一度、3領域がつながっていることを見せます。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質疑。実画面のデモに移る場合はここから。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4937760" cy="4937760"/>
          </a:xfrm>
          <a:prstGeom prst="ellipse">
            <a:avLst/>
          </a:prstGeom>
          <a:solidFill>
            <a:srgbClr val="286F5A">
              <a:alpha val="22000"/>
            </a:srgbClr>
          </a:solidFill>
          <a:ln w="12700">
            <a:solidFill>
              <a:srgbClr val="286F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463040"/>
            <a:ext cx="3108960" cy="3108960"/>
          </a:xfrm>
          <a:prstGeom prst="ellipse">
            <a:avLst/>
          </a:prstGeom>
          <a:solidFill>
            <a:srgbClr val="8FBFAE">
              <a:alpha val="12000"/>
            </a:srgbClr>
          </a:solidFill>
          <a:ln w="12700">
            <a:solidFill>
              <a:srgbClr val="8FBFA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CourseBoard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FBF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ゴルフ場運営システム　機能紹介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2487168" cy="603504"/>
          </a:xfrm>
          <a:prstGeom prst="roundRect">
            <a:avLst>
              <a:gd name="adj" fmla="val 15152"/>
            </a:avLst>
          </a:prstGeom>
          <a:solidFill>
            <a:srgbClr val="11332A"/>
          </a:solidFill>
          <a:ln w="12700">
            <a:solidFill>
              <a:srgbClr val="4668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690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A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受付票の読み取り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33572" y="4069080"/>
            <a:ext cx="2487168" cy="603504"/>
          </a:xfrm>
          <a:prstGeom prst="roundRect">
            <a:avLst>
              <a:gd name="adj" fmla="val 15152"/>
            </a:avLst>
          </a:prstGeom>
          <a:solidFill>
            <a:srgbClr val="11332A"/>
          </a:solidFill>
          <a:ln w="12700">
            <a:solidFill>
              <a:srgbClr val="4668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5012" y="40690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A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顧客台帳（CRM）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4069080"/>
            <a:ext cx="2487168" cy="603504"/>
          </a:xfrm>
          <a:prstGeom prst="roundRect">
            <a:avLst>
              <a:gd name="adj" fmla="val 15152"/>
            </a:avLst>
          </a:prstGeom>
          <a:solidFill>
            <a:srgbClr val="11332A"/>
          </a:solidFill>
          <a:ln w="12700">
            <a:solidFill>
              <a:srgbClr val="4668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40690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A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キャディ運用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9A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経営会議 ご説明資料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 とは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1日の運営を、ひとつの画面群で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予約を受けるところから、キャディを配置し、ひと月の売上を締めるところまで。運営に必要な画面がひととおりそろっています。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447288" cy="1298448"/>
          </a:xfrm>
          <a:prstGeom prst="roundRect">
            <a:avLst>
              <a:gd name="adj" fmla="val 5634"/>
            </a:avLst>
          </a:prstGeom>
          <a:solidFill>
            <a:srgbClr val="E8F1ED"/>
          </a:solidFill>
          <a:ln w="12700">
            <a:solidFill>
              <a:srgbClr val="D2E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31343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予約台帳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660904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スタート時刻の行とコースの列。空いている枠もそのまま並びます。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2148840"/>
            <a:ext cx="3447288" cy="1298448"/>
          </a:xfrm>
          <a:prstGeom prst="roundRect">
            <a:avLst>
              <a:gd name="adj" fmla="val 5634"/>
            </a:avLst>
          </a:prstGeom>
          <a:solidFill>
            <a:srgbClr val="E8F1ED"/>
          </a:solidFill>
          <a:ln w="12700">
            <a:solidFill>
              <a:srgbClr val="D2E4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31343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顧客台帳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660904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会員もビジターも、来場した人の記録。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83296" y="2148840"/>
            <a:ext cx="3447288" cy="1298448"/>
          </a:xfrm>
          <a:prstGeom prst="roundRect">
            <a:avLst>
              <a:gd name="adj" fmla="val 5634"/>
            </a:avLst>
          </a:prstGeom>
          <a:solidFill>
            <a:srgbClr val="E8F1ED"/>
          </a:solidFill>
          <a:ln w="12700">
            <a:solidFill>
              <a:srgbClr val="D2E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31343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キャディ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660904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休みの希望・シフト・配置・出勤・給与。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666744"/>
            <a:ext cx="3447288" cy="1298448"/>
          </a:xfrm>
          <a:prstGeom prst="roundRect">
            <a:avLst>
              <a:gd name="adj" fmla="val 5634"/>
            </a:avLst>
          </a:prstGeom>
          <a:solidFill>
            <a:srgbClr val="E8F1ED"/>
          </a:solidFill>
          <a:ln w="12700">
            <a:solidFill>
              <a:srgbClr val="D2E4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383133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プレー商品と受付枠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4178808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料金プランと、曜日ごとに受ける時間帯。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61688" y="3666744"/>
            <a:ext cx="3447288" cy="1298448"/>
          </a:xfrm>
          <a:prstGeom prst="roundRect">
            <a:avLst>
              <a:gd name="adj" fmla="val 5634"/>
            </a:avLst>
          </a:prstGeom>
          <a:solidFill>
            <a:srgbClr val="E8F1ED"/>
          </a:solidFill>
          <a:ln w="12700">
            <a:solidFill>
              <a:srgbClr val="D2E4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99432" y="383133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売上目標と月次精算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4178808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日ごとの目標と、ひと月の締め作業。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83296" y="3666744"/>
            <a:ext cx="3447288" cy="1298448"/>
          </a:xfrm>
          <a:prstGeom prst="roundRect">
            <a:avLst>
              <a:gd name="adj" fmla="val 5634"/>
            </a:avLst>
          </a:prstGeom>
          <a:solidFill>
            <a:srgbClr val="E8F1ED"/>
          </a:solidFill>
          <a:ln w="12700">
            <a:solidFill>
              <a:srgbClr val="D2E4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383133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予約表のとりこみ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178808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他システムの予約表を読み込みます。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8F0E2"/>
          </a:solidFill>
          <a:ln w="12700">
            <a:solidFill>
              <a:srgbClr val="EBDCC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330952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3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本日は　❶ 受付票の読み取り　❷ 顧客台帳（CRM）　❸ キャディ運用　の3つをご紹介します。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本日ご紹介する3つ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紙・人・現場、それぞれの手間に効きます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344728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47088"/>
            <a:ext cx="566928" cy="566928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受付票の読み取り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10896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紙の受付用紙をスキャン・撮影して読み取り、書かれている人をそのまま顧客台帳へ登録します。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1688" y="1627632"/>
            <a:ext cx="344728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1847088"/>
            <a:ext cx="566928" cy="566928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60604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顧客台帳（CRM）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310896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会員もビジターも同じ台帳に。来場履歴・客単価・グレード・会員種別まで1人ぶんにまとまります。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1627632"/>
            <a:ext cx="344728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1847088"/>
            <a:ext cx="566928" cy="566928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7616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60604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キャディ運用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310896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休みの希望からシフト、当日の配置、出勤、給与まで。同じデータが次の画面の材料になります。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8F0E2"/>
          </a:solidFill>
          <a:ln w="12700">
            <a:solidFill>
              <a:srgbClr val="EBDCC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010912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3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3つは別々の機能ではありません。受付票で入れた人が顧客台帳に載り、その予約にキャディが付き、月次精算まで同じ線でつながります。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4937760" cy="4937760"/>
          </a:xfrm>
          <a:prstGeom prst="ellipse">
            <a:avLst/>
          </a:prstGeom>
          <a:solidFill>
            <a:srgbClr val="286F5A">
              <a:alpha val="22000"/>
            </a:srgbClr>
          </a:solidFill>
          <a:ln w="12700">
            <a:solidFill>
              <a:srgbClr val="286F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463040"/>
            <a:ext cx="3108960" cy="3108960"/>
          </a:xfrm>
          <a:prstGeom prst="ellipse">
            <a:avLst/>
          </a:prstGeom>
          <a:solidFill>
            <a:srgbClr val="8FBFAE">
              <a:alpha val="12000"/>
            </a:srgbClr>
          </a:solidFill>
          <a:ln w="12700">
            <a:solidFill>
              <a:srgbClr val="8F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874520"/>
            <a:ext cx="658368" cy="658368"/>
          </a:xfrm>
          <a:prstGeom prst="ellipse">
            <a:avLst/>
          </a:prstGeom>
          <a:solidFill>
            <a:srgbClr val="8FBFAE"/>
          </a:solidFill>
          <a:ln w="12700">
            <a:solidFill>
              <a:srgbClr val="8FBF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3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受付票の読み取り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F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朝いちばんの入力を、用紙の確認だけにする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11332A"/>
          </a:solidFill>
          <a:ln w="12700">
            <a:solidFill>
              <a:srgbClr val="3B5C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4480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2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用紙を読み取る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3572" y="448056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11332A"/>
          </a:solidFill>
          <a:ln w="12700">
            <a:solidFill>
              <a:srgbClr val="3B5C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1588" y="4480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2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原本と見比べて直す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27064" y="448056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11332A"/>
          </a:solidFill>
          <a:ln w="12700">
            <a:solidFill>
              <a:srgbClr val="3B5C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4480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2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そのまま台帳へ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　受付票の読み取り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用紙をえらぶ → 読み取る → 直す → 登録する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4871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828800"/>
            <a:ext cx="457200" cy="457200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3957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用紙をえらぶ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798064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スキャンした画像、用紙の写真、FAXのPDF。そのまま読み込めます。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27248" y="2514600"/>
            <a:ext cx="306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33572" y="1600200"/>
            <a:ext cx="24871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1316" y="1828800"/>
            <a:ext cx="457200" cy="457200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13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71316" y="23957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読み取る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71316" y="2798064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用紙の項目に沿って、氏名・カナ・電話・住所などを1人1行として取り出します。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20740" y="2514600"/>
            <a:ext cx="306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27064" y="1600200"/>
            <a:ext cx="24871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1828800"/>
            <a:ext cx="457200" cy="457200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23957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見比べて直す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2798064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右に原本、左に読み取った行を並べます。読み取りは下書きの扱いです。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714232" y="2514600"/>
            <a:ext cx="306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020556" y="1600200"/>
            <a:ext cx="24871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58300" y="1828800"/>
            <a:ext cx="457200" cy="457200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583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58300" y="23957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台帳に登録する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58300" y="2798064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1人ずつでも、まとめてでも。名前だけでも登録できます。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251960"/>
            <a:ext cx="5312664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416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読み取れるファイル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47548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JPEG・PNG・HEIC/HEIF・PDF、1ファイル10MBまで。iPhoneで撮ったHEICの写真は自動でJPEGに変換します。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36208" y="4251960"/>
            <a:ext cx="5312664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10528" y="4416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用紙は保存しません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510528" y="47548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用紙の画像も読み取り結果も残しません。台帳に登録された内容だけが残ります。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　受付票の読み取り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実際の画面：用紙と読み取り結果を並べて直す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399032"/>
            <a:ext cx="7666202" cy="4626864"/>
          </a:xfrm>
          <a:prstGeom prst="roundRect">
            <a:avLst>
              <a:gd name="adj" fmla="val 1186"/>
            </a:avLst>
          </a:prstGeom>
          <a:solidFill>
            <a:srgbClr val="FFFFFF"/>
          </a:solidFill>
          <a:ln w="12700">
            <a:solidFill>
              <a:srgbClr val="C9D6D1"/>
            </a:solidFill>
            <a:prstDash val="solid"/>
          </a:ln>
        </p:spPr>
      </p:sp>
      <p:pic>
        <p:nvPicPr>
          <p:cNvPr id="7" name="Image 0" descr="/private/tmp/claude-501/-Users-takanorifukuyama-git-github-com-quantum-box-tachyon-apps-worktree-courseboard-modest-ramanujan-a0320e/cdc64dae-fc44-40da-aa43-ab9e4b8b0a0f/scratchpad/deck/shots/trim/03-rece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538186" cy="44988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35466" y="1499616"/>
            <a:ext cx="2916149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右が原本、左が読み取った行。目を大きく動かさずに突き合わせできます。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氏名・フリガナ・電話番号・性別・住所まで、用紙にある項目をそのまま取り出します。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読めなかった項目（この例では生年月日）は空のまま残り、上の注意でも知らせます。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同意のチェックも用紙どおりに記録します。必須が埋まるまで登録できません。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35466" y="5989320"/>
            <a:ext cx="2916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用紙は貴クラブの「ゲスト受付票」の書式。記入内容はデモ用の値です。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　受付票の読み取り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実際の画面：ゴルフ場の用紙に合わせる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399032"/>
            <a:ext cx="7900416" cy="3674409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C9D6D1"/>
            </a:solidFill>
            <a:prstDash val="solid"/>
          </a:ln>
        </p:spPr>
      </p:sp>
      <p:pic>
        <p:nvPicPr>
          <p:cNvPr id="7" name="Image 0" descr="/private/tmp/claude-501/-Users-takanorifukuyama-git-github-com-quantum-box-tachyon-apps-worktree-courseboard-modest-ramanujan-a0320e/cdc64dae-fc44-40da-aa43-ab9e4b8b0a0f/scratchpad/deck/shots/trim/14-reception-fie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772400" cy="35463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869680" y="1499616"/>
            <a:ext cx="2681935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用紙にある項目だけを表示し、必要な項目を必須にできます。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この例ではメールアドレスを外し、生年月日・性別・住所を有効にしています。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「呼び名」は用紙の言葉に合わせられます。会員区分などの独自項目も足せます。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「空の用紙から提案する」で、記入前の用紙から項目の候補を自動で埋められます。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4937760" cy="4937760"/>
          </a:xfrm>
          <a:prstGeom prst="ellipse">
            <a:avLst/>
          </a:prstGeom>
          <a:solidFill>
            <a:srgbClr val="286F5A">
              <a:alpha val="22000"/>
            </a:srgbClr>
          </a:solidFill>
          <a:ln w="12700">
            <a:solidFill>
              <a:srgbClr val="286F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463040"/>
            <a:ext cx="3108960" cy="3108960"/>
          </a:xfrm>
          <a:prstGeom prst="ellipse">
            <a:avLst/>
          </a:prstGeom>
          <a:solidFill>
            <a:srgbClr val="8FBFAE">
              <a:alpha val="12000"/>
            </a:srgbClr>
          </a:solidFill>
          <a:ln w="12700">
            <a:solidFill>
              <a:srgbClr val="8F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874520"/>
            <a:ext cx="658368" cy="658368"/>
          </a:xfrm>
          <a:prstGeom prst="ellipse">
            <a:avLst/>
          </a:prstGeom>
          <a:solidFill>
            <a:srgbClr val="8FBFAE"/>
          </a:solidFill>
          <a:ln w="12700">
            <a:solidFill>
              <a:srgbClr val="8FBF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3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顧客台帳（CRM）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F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会員もビジターも、来場した人はここに載る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11332A"/>
          </a:solidFill>
          <a:ln w="12700">
            <a:solidFill>
              <a:srgbClr val="3B5C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4480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2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ひとつの台帳に集める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3572" y="448056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11332A"/>
          </a:solidFill>
          <a:ln w="12700">
            <a:solidFill>
              <a:srgbClr val="3B5C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1588" y="4480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2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来場と単価が見える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27064" y="448056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11332A"/>
          </a:solidFill>
          <a:ln w="12700">
            <a:solidFill>
              <a:srgbClr val="3B5C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4480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2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会員種別は料金に効く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　顧客台帳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会員もビジターも、同じ台帳に載せる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44728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86537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さがす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50592"/>
            <a:ext cx="2898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名前・カナ・電話番号・メールアドレスで検索。1文字の名前から引けます。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検索しなくても、新しく登録した順の一覧が最初から出ます。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1600200"/>
            <a:ext cx="344728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1828800"/>
            <a:ext cx="457200" cy="457200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186537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入れる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2450592"/>
            <a:ext cx="2898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名前だけで登録できます。電話でお名前しか聞けていない予約もそのまま。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受付用紙から／予約の名前から／手入力の3つの入口があります。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1600200"/>
            <a:ext cx="344728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1828800"/>
            <a:ext cx="457200" cy="457200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76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51976" y="186537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つなぐ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2450592"/>
            <a:ext cx="2898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予約の代表者だけでなく、組の全員を台帳の人と結び付けられます。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登録の来歴（いつ・どこから・誰が入れたか）も1人ずつ残ります。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8F0E2"/>
          </a:solidFill>
          <a:ln w="12700">
            <a:solidFill>
              <a:srgbClr val="EBDCC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553712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3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同姓同名を自動でひとつにまとめることはしません。候補は出しますが、同じ人かどうかを決めるのは受付です。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　顧客台帳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実際の画面：会員もビジターも同じ一覧に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353312"/>
            <a:ext cx="11039551" cy="2918370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12700">
            <a:solidFill>
              <a:srgbClr val="C9D6D1"/>
            </a:solidFill>
            <a:prstDash val="solid"/>
          </a:ln>
        </p:spPr>
      </p:sp>
      <p:pic>
        <p:nvPicPr>
          <p:cNvPr id="7" name="Image 0" descr="/private/tmp/claude-501/-Users-takanorifukuyama-git-github-com-quantum-box-tachyon-apps-worktree-courseboard-modest-ramanujan-a0320e/cdc64dae-fc44-40da-aa43-ab9e4b8b0a0f/scratchpad/deck/shots/trim/01-custom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0911535" cy="279035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518570"/>
            <a:ext cx="3447288" cy="1051560"/>
          </a:xfrm>
          <a:prstGeom prst="roundRect">
            <a:avLst>
              <a:gd name="adj" fmla="val 6957"/>
            </a:avLst>
          </a:prstGeom>
          <a:solidFill>
            <a:srgbClr val="F4F7F5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" y="466487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名前・カナ・電話番号・メールアドレスで検索。1文字の名前から引けます。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4518570"/>
            <a:ext cx="3447288" cy="1051560"/>
          </a:xfrm>
          <a:prstGeom prst="roundRect">
            <a:avLst>
              <a:gd name="adj" fmla="val 6957"/>
            </a:avLst>
          </a:prstGeom>
          <a:solidFill>
            <a:srgbClr val="F4F7F5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81144" y="466487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会員種別が一覧に出るので、会員かビジターかがその場で分かります。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83296" y="4518570"/>
            <a:ext cx="3447288" cy="1051560"/>
          </a:xfrm>
          <a:prstGeom prst="roundRect">
            <a:avLst>
              <a:gd name="adj" fmla="val 6957"/>
            </a:avLst>
          </a:prstGeom>
          <a:solidFill>
            <a:srgbClr val="F4F7F5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02752" y="466487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「受付用紙から登録する」がこの画面の入口になっています。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570729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画面はデモ用のデータです。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　顧客台帳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実際の画面：顧客カルテ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399032"/>
            <a:ext cx="7900416" cy="3879372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C9D6D1"/>
            </a:solidFill>
            <a:prstDash val="solid"/>
          </a:ln>
        </p:spPr>
      </p:sp>
      <p:pic>
        <p:nvPicPr>
          <p:cNvPr id="7" name="Image 0" descr="/private/tmp/claude-501/-Users-takanorifukuyama-git-github-com-quantum-box-tachyon-apps-worktree-courseboard-modest-ramanujan-a0320e/cdc64dae-fc44-40da-aa43-ab9e4b8b0a0f/scratchpad/deck/shots/trim/02-customer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772400" cy="37513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869680" y="1499616"/>
            <a:ext cx="2681935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顧客グレード・来場回数・客単価・年間の来場回数が1行で見えます。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来場履歴には「同伴」も並びます。ほかの人の組で来た回も残ります。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会員種別と会員番号もこの画面から付け替えられます。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通算が読み切れないときは、低い数字を出さずに「判定できません」と出します。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543385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画面はデモ用のデータです。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　顧客台帳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常連の見分けと、会員の扱いを分けて持つ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12664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865376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顧客グレード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50592"/>
            <a:ext cx="47640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来場回数・客単価・累計金額のしきい値で、段をゴルフ場が自由に決めます（最大10段）。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名前も自由。ゴールド／シルバー、A／B／C、特別会員待遇。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会員でなくても、よく来てよく使うビジターは上の段に出ます。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1600200"/>
            <a:ext cx="5312664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1828800"/>
            <a:ext cx="457200" cy="457200"/>
          </a:xfrm>
          <a:prstGeom prst="ellipse">
            <a:avLst/>
          </a:prstGeom>
          <a:solidFill>
            <a:srgbClr val="A9762F"/>
          </a:solidFill>
          <a:ln w="12700">
            <a:solidFill>
              <a:srgbClr val="A976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04888" y="1865376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会員種別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450592"/>
            <a:ext cx="47640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種別ごとに料金の割引（円引き／％引き）を持ちます。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プレーできる曜日・時間帯を種別ごとに決められます。条件の外は警告を出したうえで予約は残します。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会員番号を持ち、改番・取り消しまで台帳側で扱えます。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8F0E2"/>
          </a:solidFill>
          <a:ln w="12700">
            <a:solidFill>
              <a:srgbClr val="EBDC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828032"/>
            <a:ext cx="10362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3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割引はグリーンフィーから引いたうえで課税します。ゴルフ場利用税の等級まで正しく動くので、料金計算の画面にそのまま見積もりが出ます。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4937760" cy="4937760"/>
          </a:xfrm>
          <a:prstGeom prst="ellipse">
            <a:avLst/>
          </a:prstGeom>
          <a:solidFill>
            <a:srgbClr val="286F5A">
              <a:alpha val="22000"/>
            </a:srgbClr>
          </a:solidFill>
          <a:ln w="12700">
            <a:solidFill>
              <a:srgbClr val="286F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463040"/>
            <a:ext cx="3108960" cy="3108960"/>
          </a:xfrm>
          <a:prstGeom prst="ellipse">
            <a:avLst/>
          </a:prstGeom>
          <a:solidFill>
            <a:srgbClr val="8FBFAE">
              <a:alpha val="12000"/>
            </a:srgbClr>
          </a:solidFill>
          <a:ln w="12700">
            <a:solidFill>
              <a:srgbClr val="8F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874520"/>
            <a:ext cx="658368" cy="658368"/>
          </a:xfrm>
          <a:prstGeom prst="ellipse">
            <a:avLst/>
          </a:prstGeom>
          <a:solidFill>
            <a:srgbClr val="8FBFAE"/>
          </a:solidFill>
          <a:ln w="12700">
            <a:solidFill>
              <a:srgbClr val="8FBF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3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キャディ運用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F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希望・シフト・配置・出勤・給与を一本の線に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11332A"/>
          </a:solidFill>
          <a:ln w="12700">
            <a:solidFill>
              <a:srgbClr val="3B5C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4480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2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配置と自動割当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3572" y="448056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11332A"/>
          </a:solidFill>
          <a:ln w="12700">
            <a:solidFill>
              <a:srgbClr val="3B5C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1588" y="4480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2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キャディ付き枠の需給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27064" y="448056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11332A"/>
          </a:solidFill>
          <a:ln w="12700">
            <a:solidFill>
              <a:srgbClr val="3B5C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4480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2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シフトと給与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　キャディ運用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休みの希望から給与まで、同じデータでつながる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28800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名簿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24912"/>
            <a:ext cx="1563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スキル・ランク・1日の上限・担当できるコース。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99339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96312" y="18288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51176" y="1828800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休みの希望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724912"/>
            <a:ext cx="1563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日ごとに、出られるか・2ラウンド希望か・体調。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096512" y="199339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52544" y="18288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1828800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シフト表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70832" y="2724912"/>
            <a:ext cx="1563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ひと月の出勤予定。連続出勤を早めに見つける。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952744" y="199339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08776" y="18288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1828800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27064" y="2724912"/>
            <a:ext cx="1563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その日、だれがどの組につくかを決める。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808976" y="199339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65008" y="18288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1828800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83296" y="2724912"/>
            <a:ext cx="1563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割当と打刻を見比べて、その場で記録。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665208" y="199339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921240" y="18288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76104" y="1828800"/>
            <a:ext cx="1490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給与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939528" y="2724912"/>
            <a:ext cx="1563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ランク別単価から支給額を出してCSVへ。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93192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8F0E2"/>
          </a:solidFill>
          <a:ln w="12700">
            <a:solidFill>
              <a:srgbClr val="EBDCC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005072"/>
            <a:ext cx="10362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3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休みの希望はキャディ付き枠の計算に、確定シフトは配置の候補に、配置は出勤と給与の突合に使われます。同じことを何度も入力しません。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キャディはスタッフの役割のひとつです。名前を入れると社員名簿に自動で紐づき、出勤と給与に反映されます。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　キャディ運用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実際の画面：その日の配置を決める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399032"/>
            <a:ext cx="7900416" cy="4099805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2700">
            <a:solidFill>
              <a:srgbClr val="C9D6D1"/>
            </a:solidFill>
            <a:prstDash val="solid"/>
          </a:ln>
        </p:spPr>
      </p:sp>
      <p:pic>
        <p:nvPicPr>
          <p:cNvPr id="7" name="Image 0" descr="/private/tmp/claude-501/-Users-takanorifukuyama-git-github-com-quantum-box-tachyon-apps-worktree-courseboard-modest-ramanujan-a0320e/cdc64dae-fc44-40da-aa43-ab9e4b8b0a0f/scratchpad/deck/shots/trim/04-dis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772400" cy="397178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869680" y="1499616"/>
            <a:ext cx="2681935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「ラウンド配置」と「別業務」の2つのタブ。目的の違う作業を混ぜません。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未配置・配置済み・別業務・空きあり の件数が、常に上に出ます。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1組ずつ指名するのも、まとめて自動で配置するのも同じ画面から。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「この日／7日／14日」で、先の日ぶんもまとめて見られます。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5654285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画面はデモ用のデータです。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　キャディ運用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実際の画面：自動配置と、候補に付く理由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399032"/>
            <a:ext cx="7666202" cy="4626864"/>
          </a:xfrm>
          <a:prstGeom prst="roundRect">
            <a:avLst>
              <a:gd name="adj" fmla="val 1186"/>
            </a:avLst>
          </a:prstGeom>
          <a:solidFill>
            <a:srgbClr val="FFFFFF"/>
          </a:solidFill>
          <a:ln w="12700">
            <a:solidFill>
              <a:srgbClr val="C9D6D1"/>
            </a:solidFill>
            <a:prstDash val="solid"/>
          </a:ln>
        </p:spPr>
      </p:sp>
      <p:pic>
        <p:nvPicPr>
          <p:cNvPr id="7" name="Image 0" descr="/private/tmp/claude-501/-Users-takanorifukuyama-git-github-com-quantum-box-tachyon-apps-worktree-courseboard-modest-ramanujan-a0320e/cdc64dae-fc44-40da-aa43-ab9e4b8b0a0f/scratchpad/deck/shots/trim/10-autoas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538186" cy="44988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35466" y="1499616"/>
            <a:ext cx="2916149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「配置を試す」で候補を出し、内容を見てから「この配置で決める」を押します。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候補には「出勤ずみ」「当日のシフトが未確定」「コース未割付」などの理由が付きます。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休み希望の締切を過ぎている人がいれば、決める前に警告します。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配置できなかった組も、理由付きで残ります。黙って飛ばしません。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35466" y="5989320"/>
            <a:ext cx="2916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画面はデモ用のデータです。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　キャディ運用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実際の画面：キャディ付きで何組まで売れるか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399032"/>
            <a:ext cx="7688179" cy="4626864"/>
          </a:xfrm>
          <a:prstGeom prst="roundRect">
            <a:avLst>
              <a:gd name="adj" fmla="val 1186"/>
            </a:avLst>
          </a:prstGeom>
          <a:solidFill>
            <a:srgbClr val="FFFFFF"/>
          </a:solidFill>
          <a:ln w="12700">
            <a:solidFill>
              <a:srgbClr val="C9D6D1"/>
            </a:solidFill>
            <a:prstDash val="solid"/>
          </a:ln>
        </p:spPr>
      </p:sp>
      <p:pic>
        <p:nvPicPr>
          <p:cNvPr id="7" name="Image 0" descr="/private/tmp/claude-501/-Users-takanorifukuyama-git-github-com-quantum-box-tachyon-apps-worktree-courseboard-modest-ramanujan-a0320e/cdc64dae-fc44-40da-aa43-ab9e4b8b0a0f/scratchpad/deck/shots/trim/11-su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560163" cy="44988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57443" y="1499616"/>
            <a:ext cx="2894172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出せる組数・安全な上限・予約ずみ・残りの枠が並びます。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上限を超えている日は赤く出ます（この例では 82組の予約に対して 23組ぶん超過）。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コース別の過不足も出るので、足りないコースへ他コースから応援を呼べます。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おすすめの候補も、並び順の理由と一緒にここに出ます。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57443" y="5989320"/>
            <a:ext cx="2894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画面はデモ用のデータです。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　キャディ運用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実際の画面：ひと月のシフト表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399032"/>
            <a:ext cx="7723611" cy="4626864"/>
          </a:xfrm>
          <a:prstGeom prst="roundRect">
            <a:avLst>
              <a:gd name="adj" fmla="val 1186"/>
            </a:avLst>
          </a:prstGeom>
          <a:solidFill>
            <a:srgbClr val="FFFFFF"/>
          </a:solidFill>
          <a:ln w="12700">
            <a:solidFill>
              <a:srgbClr val="C9D6D1"/>
            </a:solidFill>
            <a:prstDash val="solid"/>
          </a:ln>
        </p:spPr>
      </p:sp>
      <p:pic>
        <p:nvPicPr>
          <p:cNvPr id="7" name="Image 0" descr="/private/tmp/claude-501/-Users-takanorifukuyama-git-github-com-quantum-box-tachyon-apps-worktree-courseboard-modest-ramanujan-a0320e/cdc64dae-fc44-40da-aa43-ab9e4b8b0a0f/scratchpad/deck/shots/trim/06-shif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595595" cy="44988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92875" y="1499616"/>
            <a:ext cx="2858741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行がキャディ、列が日。出・休・前・後・軽を1文字で置いています。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連続出勤が続く人は「連続」列と色で分かります。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休み希望がまだ届いていない人は、上の注意に名前で出ます。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「シフト案を作る」で1か月ぶんの案を作り、手で直せます。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92875" y="5989320"/>
            <a:ext cx="28587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画面はデモ用のデータです。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　キャディ運用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シフトの決め方と、ラウンド以外の仕事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1266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286F5A"/>
          </a:solidFill>
          <a:ln w="12700">
            <a:solidFill>
              <a:srgbClr val="286F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865376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シフトの決め方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50592"/>
            <a:ext cx="47640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連続6日を超えて出勤にしません。労基法35条の週1日の休日を守るためです。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休みは、本人の希望とその日すでに休む人数を見て置きます。同じ日に偏りません。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生成のルール（休みにしたくない曜日、1日の上限など）はゴルフ場ごとの設定です。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1600200"/>
            <a:ext cx="531266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1828800"/>
            <a:ext cx="457200" cy="457200"/>
          </a:xfrm>
          <a:prstGeom prst="ellipse">
            <a:avLst/>
          </a:prstGeom>
          <a:solidFill>
            <a:srgbClr val="A9762F"/>
          </a:solidFill>
          <a:ln w="12700">
            <a:solidFill>
              <a:srgbClr val="A976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04888" y="1865376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別業務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450592"/>
            <a:ext cx="47640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コース整備や練習場など、ラウンド以外の仕事を時間帯で記録します。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その時間だけラウンドの候補から外れます。重ならない時間のラウンドには入れます。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業務の種類はゴルフ場ごとのマスタ。過去の日の記録はマスタを直しても書き換わりません。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8F0E2"/>
          </a:solidFill>
          <a:ln w="12700">
            <a:solidFill>
              <a:srgbClr val="EBDC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919472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3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手すきなのか、庭仕事に出ているのか。これまでボードが何も言わなかったところが、配置画面で区別できるようになります。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　キャディ運用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実際の画面：ひと月の給与をまとめる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399032"/>
            <a:ext cx="7666202" cy="4626864"/>
          </a:xfrm>
          <a:prstGeom prst="roundRect">
            <a:avLst>
              <a:gd name="adj" fmla="val 1186"/>
            </a:avLst>
          </a:prstGeom>
          <a:solidFill>
            <a:srgbClr val="FFFFFF"/>
          </a:solidFill>
          <a:ln w="12700">
            <a:solidFill>
              <a:srgbClr val="C9D6D1"/>
            </a:solidFill>
            <a:prstDash val="solid"/>
          </a:ln>
        </p:spPr>
      </p:sp>
      <p:pic>
        <p:nvPicPr>
          <p:cNvPr id="7" name="Image 0" descr="/private/tmp/claude-501/-Users-takanorifukuyama-git-github-com-quantum-box-tachyon-apps-worktree-courseboard-modest-ramanujan-a0320e/cdc64dae-fc44-40da-aa43-ab9e4b8b0a0f/scratchpad/deck/shots/trim/07-payro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538186" cy="44988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35466" y="1499616"/>
            <a:ext cx="2916149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ランク別の単価 × 担当したラウンド数で、支給額が出ます。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実働とシフトを並べて出すので、記録の抜けがその場で分かります。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本人ごとの単価も持てます（ランクの単価より優先されます）。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確認を済ませてから「CSVを出す」で給与ソフトへ渡します。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35466" y="5989320"/>
            <a:ext cx="2916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画面はデモ用のデータです。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実際の画面：予約台帳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" y="1399032"/>
            <a:ext cx="7666202" cy="4626864"/>
          </a:xfrm>
          <a:prstGeom prst="roundRect">
            <a:avLst>
              <a:gd name="adj" fmla="val 1186"/>
            </a:avLst>
          </a:prstGeom>
          <a:solidFill>
            <a:srgbClr val="FFFFFF"/>
          </a:solidFill>
          <a:ln w="12700">
            <a:solidFill>
              <a:srgbClr val="C9D6D1"/>
            </a:solidFill>
            <a:prstDash val="solid"/>
          </a:ln>
        </p:spPr>
      </p:sp>
      <p:pic>
        <p:nvPicPr>
          <p:cNvPr id="7" name="Image 0" descr="/private/tmp/claude-501/-Users-takanorifukuyama-git-github-com-quantum-box-tachyon-apps-worktree-courseboard-modest-ramanujan-a0320e/cdc64dae-fc44-40da-aa43-ab9e4b8b0a0f/scratchpad/deck/shots/trim/08-led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538186" cy="44988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35466" y="1499616"/>
            <a:ext cx="2916149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スタート時刻の行とコースの列。空いている枠もそのまま並びます。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予約組数・来場者数・空き枠が上に出ます。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キャディが足りないコースは、台帳の見出しにも赤く出ます。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150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空きをクリックするとその場で予約を入れられます。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35466" y="5989320"/>
            <a:ext cx="2916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画面はデモ用のデータです。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86F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3つは別々ではなく、ひとつの線でつながる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CourseBoard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8F1ED"/>
          </a:solidFill>
          <a:ln w="12700">
            <a:solidFill>
              <a:srgbClr val="D2E4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受付票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432304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用紙から人を読み取る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3774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96312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8F1ED"/>
          </a:solidFill>
          <a:ln w="12700">
            <a:solidFill>
              <a:srgbClr val="D2E4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51176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顧客台帳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551176" y="2432304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会員もビジターも載る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2" y="23774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52544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8F1ED"/>
          </a:solidFill>
          <a:ln w="12700">
            <a:solidFill>
              <a:srgbClr val="D2E4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2432304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組の全員を紐付ける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52744" y="23774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08776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キャディ配置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432304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根拠付きで人を付ける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808976" y="23774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65008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出勤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119872" y="2432304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来場と稼働を記録する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665208" y="23774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C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92124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76104" y="20848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55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月次精算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976104" y="2432304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売上と費用を締める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520440"/>
            <a:ext cx="344728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7824" y="3703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一度入れた人が、次の画面の材料になる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" y="42245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受付票で入れた人はそのまま予約に紐づき、来場履歴・客単価・グレードへ積み上がります。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61688" y="3520440"/>
            <a:ext cx="344728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99432" y="3703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判断の根拠が画面に残る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99432" y="42245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キャディの候補にも、配置できなかった組にも理由が付きます。読めていない数字は推測せずに「読めていない」と出します。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83296" y="3520440"/>
            <a:ext cx="344728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1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21040" y="3703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入力は一度だけ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42245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D6E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休みの希望は枠の計算に、配置は出勤と給与に使われます。別の表に書き直しません。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4937760" cy="4937760"/>
          </a:xfrm>
          <a:prstGeom prst="ellipse">
            <a:avLst/>
          </a:prstGeom>
          <a:solidFill>
            <a:srgbClr val="286F5A">
              <a:alpha val="22000"/>
            </a:srgbClr>
          </a:solidFill>
          <a:ln w="12700">
            <a:solidFill>
              <a:srgbClr val="286F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463040"/>
            <a:ext cx="3108960" cy="3108960"/>
          </a:xfrm>
          <a:prstGeom prst="ellipse">
            <a:avLst/>
          </a:prstGeom>
          <a:solidFill>
            <a:srgbClr val="8FBFAE">
              <a:alpha val="12000"/>
            </a:srgbClr>
          </a:solidFill>
          <a:ln w="12700">
            <a:solidFill>
              <a:srgbClr val="8FBFA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ご質問をお受けします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BF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受付票の読み取り　／　顧客台帳（CRM）　／　キャディ運用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E9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CourseBoard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CourseBoard 機能紹介</dc:title>
  <dc:subject>PptxGenJS Presentation</dc:subject>
  <dc:creator>CourseBoard</dc:creator>
  <cp:lastModifiedBy>CourseBoard</cp:lastModifiedBy>
  <cp:revision>1</cp:revision>
  <dcterms:created xsi:type="dcterms:W3CDTF">2026-09-01T09:42:59Z</dcterms:created>
  <dcterms:modified xsi:type="dcterms:W3CDTF">2026-09-01T09:42:59Z</dcterms:modified>
</cp:coreProperties>
</file>